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</ns0:sldIdLst>
  <ns0:sldSz cx="12192000" cy="6858000" type="screen4x3"/>
  <ns0:notesSz cx="6858000" cy="9144000"/>
  <ns0:embeddedFontLst>
    <ns0:embeddedFont>
      <ns0:font typeface="Plus Jakarta Sans"/>
      <ns0:bold ns1:id="rIdFont22"/>
      <ns0:regular ns1:id="rIdFont23"/>
    </ns0:embeddedFont>
    <ns0:embeddedFont>
      <ns0:font typeface="JetBrains Mono"/>
      <ns0:bold ns1:id="rIdFont24"/>
      <ns0:regular ns1:id="rIdFont2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Font22" Type="http://schemas.openxmlformats.org/officeDocument/2006/relationships/font" Target="fonts/781ff7b5-f428-4783-9a45-1161e76c93fb.fntdata" /><ns0:Relationship Id="rIdFont23" Type="http://schemas.openxmlformats.org/officeDocument/2006/relationships/font" Target="fonts/7855f30b-8f97-4d9a-84c2-55c2e07defe4.fntdata" /><ns0:Relationship Id="rIdFont24" Type="http://schemas.openxmlformats.org/officeDocument/2006/relationships/font" Target="fonts/b266ccab-7c6b-42ec-9742-717ff0cf940c.fntdata" /><ns0:Relationship Id="rIdFont25" Type="http://schemas.openxmlformats.org/officeDocument/2006/relationships/font" Target="fonts/86be9d44-de27-4738-b041-2908f7bf72cc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610076"/>
            <a:ext cx="10972800" cy="638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610076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734544"/>
            <a:ext cx="1428750" cy="342900"/>
          </a:xfrm>
          <a:prstGeom prst="roundRect">
            <a:avLst>
              <a:gd name="adj" fmla="val 16666"/>
            </a:avLst>
          </a:prstGeom>
          <a:solidFill>
            <a:srgbClr val="0F2A38"/>
          </a:solidFill>
          <a:ln w="9525">
            <a:solidFill>
              <a:srgbClr val="0E3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52650" y="3734544"/>
            <a:ext cx="600075" cy="342900"/>
          </a:xfrm>
          <a:prstGeom prst="roundRect">
            <a:avLst>
              <a:gd name="adj" fmla="val 16666"/>
            </a:avLst>
          </a:prstGeom>
          <a:solidFill>
            <a:srgbClr val="122247"/>
          </a:solidFill>
          <a:ln w="9525">
            <a:solidFill>
              <a:srgbClr val="162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67025" y="3734544"/>
            <a:ext cx="809625" cy="342900"/>
          </a:xfrm>
          <a:prstGeom prst="roundRect">
            <a:avLst>
              <a:gd name="adj" fmla="val 16666"/>
            </a:avLst>
          </a:prstGeom>
          <a:solidFill>
            <a:srgbClr val="1F1C47"/>
          </a:solidFill>
          <a:ln w="9525">
            <a:solidFill>
              <a:srgbClr val="302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90950" y="3734544"/>
            <a:ext cx="771525" cy="342900"/>
          </a:xfrm>
          <a:prstGeom prst="roundRect">
            <a:avLst>
              <a:gd name="adj" fmla="val 16666"/>
            </a:avLst>
          </a:prstGeom>
          <a:solidFill>
            <a:srgbClr val="272E3F"/>
          </a:solidFill>
          <a:ln w="9525">
            <a:solidFill>
              <a:srgbClr val="3F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900" y="609600"/>
            <a:ext cx="3036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PORTFOLIO PROJECT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932682"/>
            <a:ext cx="9101137" cy="1051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F8FAFC"/>
                </a:solidFill>
                <a:latin typeface="Plus Jakarta Sans"/>
              </a:rPr>
              <a:t>Customer 360 &amp; Marketing Attribution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136403"/>
            <a:ext cx="10715625" cy="293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An End-to-End Data Analytics Portfolio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82075" y="6095851"/>
            <a:ext cx="32099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Demonstration Dataset Portfolio Deliverable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810744"/>
            <a:ext cx="12192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DD4BF"/>
                </a:solidFill>
                <a:latin typeface="Plus Jakarta Sans"/>
              </a:rPr>
              <a:t>Google BigQuery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5050" y="3810744"/>
            <a:ext cx="3905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0A5FA"/>
                </a:solidFill>
                <a:latin typeface="Plus Jakarta Sans"/>
              </a:rPr>
              <a:t>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9425" y="3810744"/>
            <a:ext cx="6000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084FC"/>
                </a:solidFill>
                <a:latin typeface="Plus Jakarta Sans"/>
              </a:rPr>
              <a:t>Tableau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43350" y="3810744"/>
            <a:ext cx="5619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5848201"/>
            <a:ext cx="159543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PREPARED 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029176"/>
            <a:ext cx="1595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Yamini Gongati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5100"/>
            <a:ext cx="121920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51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8244" y="2241202"/>
            <a:ext cx="5384155" cy="2809875"/>
          </a:xfrm>
          <a:prstGeom prst="roundRect">
            <a:avLst>
              <a:gd name="adj" fmla="val 406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1333946"/>
            <a:ext cx="5283844" cy="1414462"/>
          </a:xfrm>
          <a:prstGeom prst="roundRect">
            <a:avLst>
              <a:gd name="adj" fmla="val 808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2938908"/>
            <a:ext cx="5283844" cy="1414462"/>
          </a:xfrm>
          <a:prstGeom prst="roundRect">
            <a:avLst>
              <a:gd name="adj" fmla="val 808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4543871"/>
            <a:ext cx="5283844" cy="1414462"/>
          </a:xfrm>
          <a:prstGeom prst="roundRect">
            <a:avLst>
              <a:gd name="adj" fmla="val 808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738883"/>
            <a:ext cx="52838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333946"/>
            <a:ext cx="52838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333946"/>
            <a:ext cx="38100" cy="141446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83919" y="1333946"/>
            <a:ext cx="9525" cy="141446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343846"/>
            <a:ext cx="52838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2938908"/>
            <a:ext cx="52838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2938908"/>
            <a:ext cx="38100" cy="141446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83919" y="2938908"/>
            <a:ext cx="9525" cy="141446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5948808"/>
            <a:ext cx="52838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4543871"/>
            <a:ext cx="52838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4543871"/>
            <a:ext cx="38100" cy="141446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83919" y="4543871"/>
            <a:ext cx="9525" cy="141446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12569" y="2907952"/>
            <a:ext cx="2301478" cy="8382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66448" y="2907952"/>
            <a:ext cx="2301626" cy="8382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12569" y="3898552"/>
            <a:ext cx="2301478" cy="8382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66448" y="3898552"/>
            <a:ext cx="2301626" cy="8382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215133"/>
            <a:ext cx="152400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4820096"/>
            <a:ext cx="171450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9600" y="6619875"/>
            <a:ext cx="43695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Customer 360 &amp; Marketing Attribution Analytics | Yamini Gongati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20450" y="6619875"/>
            <a:ext cx="6477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Slide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381000"/>
            <a:ext cx="3214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D9488"/>
                </a:solidFill>
                <a:latin typeface="Plus Jakarta Sans"/>
              </a:rPr>
              <a:t>OVERVIEW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590550"/>
            <a:ext cx="3375421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Executive 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2569" y="2555527"/>
            <a:ext cx="567943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KEY PROJECT PARAMETERS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6300" y="1572071"/>
            <a:ext cx="6272463" cy="2190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End-to-End Analytical Workflow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6300" y="1867346"/>
            <a:ext cx="487426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Demonstrates how raw customer, order, advertising spend, and touchpoint data are ingested, transformed, and modeled for business analysis.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6300" y="3177033"/>
            <a:ext cx="6272463" cy="21907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BigQuery &amp; Tableau Synergy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6300" y="3472308"/>
            <a:ext cx="487426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SQL in Google BigQuery powers robust data preparation and KPI transformations, while Tableau provides clear visual reporting and dashboarding.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6300" y="4781996"/>
            <a:ext cx="6272463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Synthetic Portfolio Scope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6300" y="5077271"/>
            <a:ext cx="487426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Built using a small synthetic dataset for demonstration purposes. Serves as a technical showcase rather than an active production marketing system.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7285" y="3060352"/>
            <a:ext cx="2572047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2563EB"/>
                </a:solidFill>
                <a:latin typeface="Plus Jakarta Sans"/>
              </a:rPr>
              <a:t>5</a:t>
            </a:r>
            <a:r>
              <a:rPr b="1" sz="2100" i="0" u="none">
                <a:solidFill>
                  <a:srgbClr val="2563EB"/>
                </a:solidFill>
                <a:latin typeface="Plus Jakarta Sans"/>
              </a:rPr>
              <a:t> </a:t>
            </a:r>
            <a:r>
              <a:rPr b="1" sz="975" i="0" u="none">
                <a:solidFill>
                  <a:srgbClr val="64748B"/>
                </a:solidFill>
                <a:latin typeface="Plus Jakarta Sans"/>
              </a:rPr>
              <a:t>Profiles Modeled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1144" y="3060352"/>
            <a:ext cx="2572233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D9488"/>
                </a:solidFill>
                <a:latin typeface="Plus Jakarta Sans"/>
              </a:rPr>
              <a:t>8</a:t>
            </a:r>
            <a:r>
              <a:rPr b="1" sz="2100" i="0" u="none">
                <a:solidFill>
                  <a:srgbClr val="0D9488"/>
                </a:solidFill>
                <a:latin typeface="Plus Jakarta Sans"/>
              </a:rPr>
              <a:t> </a:t>
            </a:r>
            <a:r>
              <a:rPr b="1" sz="975" i="0" u="none">
                <a:solidFill>
                  <a:srgbClr val="64748B"/>
                </a:solidFill>
                <a:latin typeface="Plus Jakarta Sans"/>
              </a:rPr>
              <a:t>Orders Analyzed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7285" y="4050952"/>
            <a:ext cx="2572047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7C3AED"/>
                </a:solidFill>
                <a:latin typeface="Plus Jakarta Sans"/>
              </a:rPr>
              <a:t>14,800</a:t>
            </a:r>
            <a:r>
              <a:rPr b="1" sz="2100" i="0" u="none">
                <a:solidFill>
                  <a:srgbClr val="7C3AED"/>
                </a:solidFill>
                <a:latin typeface="Plus Jakarta Sans"/>
              </a:rPr>
              <a:t> </a:t>
            </a:r>
            <a:r>
              <a:rPr b="1" sz="975" i="0" u="none">
                <a:solidFill>
                  <a:srgbClr val="64748B"/>
                </a:solidFill>
                <a:latin typeface="Plus Jakarta Sans"/>
              </a:rPr>
              <a:t>Total Revenue (Units)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31144" y="4050952"/>
            <a:ext cx="2572233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E11D48"/>
                </a:solidFill>
                <a:latin typeface="Plus Jakarta Sans"/>
              </a:rPr>
              <a:t>2,300</a:t>
            </a:r>
            <a:r>
              <a:rPr b="1" sz="2100" i="0" u="none">
                <a:solidFill>
                  <a:srgbClr val="E11D48"/>
                </a:solidFill>
                <a:latin typeface="Plus Jakarta Sans"/>
              </a:rPr>
              <a:t> </a:t>
            </a:r>
            <a:r>
              <a:rPr b="1" sz="975" i="0" u="none">
                <a:solidFill>
                  <a:srgbClr val="64748B"/>
                </a:solidFill>
                <a:latin typeface="Plus Jakarta Sans"/>
              </a:rPr>
              <a:t>Ad Spend (Units)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5100"/>
            <a:ext cx="121920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1980307"/>
            <a:ext cx="10972800" cy="106680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51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980307"/>
            <a:ext cx="38100" cy="10668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390007"/>
            <a:ext cx="3505200" cy="1921966"/>
          </a:xfrm>
          <a:prstGeom prst="roundRect">
            <a:avLst>
              <a:gd name="adj" fmla="val 59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3390007"/>
            <a:ext cx="3505200" cy="1921966"/>
          </a:xfrm>
          <a:prstGeom prst="roundRect">
            <a:avLst>
              <a:gd name="adj" fmla="val 59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77200" y="3390007"/>
            <a:ext cx="3505200" cy="1921966"/>
          </a:xfrm>
          <a:prstGeom prst="roundRect">
            <a:avLst>
              <a:gd name="adj" fmla="val 59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3721447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3628132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3721447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6937" y="3761482"/>
            <a:ext cx="23812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0737" y="3854797"/>
            <a:ext cx="23812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6619875"/>
            <a:ext cx="43695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Customer 360 &amp; Marketing Attribution Analytics | Yamini Gongati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20450" y="6619875"/>
            <a:ext cx="6477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Slide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81000"/>
            <a:ext cx="4667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D9488"/>
                </a:solidFill>
                <a:latin typeface="Plus Jakarta Sans"/>
              </a:rPr>
              <a:t>CONTEXT &amp; CHALLENGES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90550"/>
            <a:ext cx="4900612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Business Problem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2170807"/>
            <a:ext cx="113157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Plus Jakarta Sans"/>
              </a:rPr>
              <a:t>The Fragmentation Trap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2427982"/>
            <a:ext cx="105727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7F1D1D"/>
                </a:solidFill>
                <a:latin typeface="Plus Jakarta Sans"/>
              </a:rPr>
              <a:t>Customer information, transactions, ad spend, and interaction touchpoints exist in isolated silos. Disconnected datasets hinder clear comparisons between marketing expenditure and actual conversion revenue.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2131" y="4331047"/>
            <a:ext cx="11001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Question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106" y="4607272"/>
            <a:ext cx="3786187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What revenue and total activity are associated with each specific marketing campaign?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25928" y="4237732"/>
            <a:ext cx="114014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Question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2906" y="4513957"/>
            <a:ext cx="3786187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How does marketing investment compare against resulting revenue and conversion outcomes?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9728" y="4331047"/>
            <a:ext cx="114014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Question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706" y="4607272"/>
            <a:ext cx="3786187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How can a unified customer view improve overall customer and campaign analytics?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5100"/>
            <a:ext cx="121920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51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158180"/>
            <a:ext cx="5372100" cy="4975919"/>
          </a:xfrm>
          <a:prstGeom prst="roundRect">
            <a:avLst>
              <a:gd name="adj" fmla="val 229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1158180"/>
            <a:ext cx="5372100" cy="4975919"/>
          </a:xfrm>
          <a:prstGeom prst="roundRect">
            <a:avLst>
              <a:gd name="adj" fmla="val 229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6124575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158180"/>
            <a:ext cx="53721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158180"/>
            <a:ext cx="9525" cy="49759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72175" y="1158180"/>
            <a:ext cx="9525" cy="49759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0300" y="6124575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0300" y="1158180"/>
            <a:ext cx="5372100" cy="381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0300" y="1158180"/>
            <a:ext cx="9525" cy="49759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72875" y="1158180"/>
            <a:ext cx="9525" cy="49759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448692"/>
            <a:ext cx="17145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1820167"/>
            <a:ext cx="114300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105917"/>
            <a:ext cx="114300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391667"/>
            <a:ext cx="11430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677417"/>
            <a:ext cx="11430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963167"/>
            <a:ext cx="1143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1820167"/>
            <a:ext cx="11430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2105917"/>
            <a:ext cx="114300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2391667"/>
            <a:ext cx="114300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2677417"/>
            <a:ext cx="114300" cy="142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9600" y="6619875"/>
            <a:ext cx="43695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Customer 360 &amp; Marketing Attribution Analytics | Yamini Gongati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10925" y="6619875"/>
            <a:ext cx="6572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Slide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381000"/>
            <a:ext cx="4905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D9488"/>
                </a:solidFill>
                <a:latin typeface="Plus Jakarta Sans"/>
              </a:rPr>
              <a:t>PROJECT BOUNDARIES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590550"/>
            <a:ext cx="5150643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Objectives &amp; Scope Definition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5375" y="1424880"/>
            <a:ext cx="6165770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Implemented Functionality (In Scope)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4625" y="1424880"/>
            <a:ext cx="5667375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Proposed Future Roadmap (Out of Scope)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8225" y="1796355"/>
            <a:ext cx="5929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Data Ingestion: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Organized customer and marketing datasets.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8225" y="2082105"/>
            <a:ext cx="5929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SQL Transformations: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Formulated multi-table joins and aggregations.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8225" y="2367855"/>
            <a:ext cx="5929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Analytical Views: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Created reusable Customer 360 &amp; performance tables.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8225" y="2653605"/>
            <a:ext cx="5929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Tableau Reporting: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Designed visual dashboards for KPI evaluation.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8225" y="2939355"/>
            <a:ext cx="5929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Version Control: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Fully documented code and architecture in GitHub.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38925" y="1796355"/>
            <a:ext cx="55530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Automated ETL pipelines or real-time streaming data integration.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38925" y="2082105"/>
            <a:ext cx="55530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Production data warehouse deployment on enterprise scale.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38925" y="2367855"/>
            <a:ext cx="55530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Machine learning predictive churn or LTV forecasting models.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38925" y="2653605"/>
            <a:ext cx="55530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Direct API integrations with ad platforms (e.g., Google Ads, Meta).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5100"/>
            <a:ext cx="121920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51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331839"/>
            <a:ext cx="5372100" cy="1293316"/>
          </a:xfrm>
          <a:prstGeom prst="roundRect">
            <a:avLst>
              <a:gd name="adj" fmla="val 883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2331839"/>
            <a:ext cx="5372100" cy="1293316"/>
          </a:xfrm>
          <a:prstGeom prst="roundRect">
            <a:avLst>
              <a:gd name="adj" fmla="val 883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853755"/>
            <a:ext cx="5372100" cy="1106685"/>
          </a:xfrm>
          <a:prstGeom prst="roundRect">
            <a:avLst>
              <a:gd name="adj" fmla="val 103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0300" y="3853755"/>
            <a:ext cx="5372100" cy="1106685"/>
          </a:xfrm>
          <a:prstGeom prst="roundRect">
            <a:avLst>
              <a:gd name="adj" fmla="val 103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569964"/>
            <a:ext cx="590550" cy="590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569964"/>
            <a:ext cx="590550" cy="590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091880"/>
            <a:ext cx="533400" cy="590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4091880"/>
            <a:ext cx="523875" cy="590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125" y="2760464"/>
            <a:ext cx="28575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825" y="2760464"/>
            <a:ext cx="28575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125" y="4282380"/>
            <a:ext cx="228600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0825" y="4282380"/>
            <a:ext cx="219075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6619875"/>
            <a:ext cx="43695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Customer 360 &amp; Marketing Attribution Analytics | Yamini Gongati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20450" y="6619875"/>
            <a:ext cx="6477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Slide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381000"/>
            <a:ext cx="4560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D9488"/>
                </a:solidFill>
                <a:latin typeface="Plus Jakarta Sans"/>
              </a:rPr>
              <a:t>TOOLING &amp; 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590550"/>
            <a:ext cx="4788098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Technology Stack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90675" y="2569964"/>
            <a:ext cx="54506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Google BigQuery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90675" y="2827139"/>
            <a:ext cx="424815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Serves as the enterprise cloud data warehouse. Hosts raw demonstration tables and executes analytical transformation jobs efficiently.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1375" y="2569964"/>
            <a:ext cx="5000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Structured Query Language (SQL)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1375" y="2827139"/>
            <a:ext cx="42481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Drives table joins, aggregations, calculated metrics, schema definitions, and validation checks across datasets.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3525" y="4091880"/>
            <a:ext cx="552569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Tableau Desktop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3525" y="4349055"/>
            <a:ext cx="43053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Delivers visual analytics, interactive filtering, and business-ready dashboards directly consuming SQL analytical views.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4700" y="4091880"/>
            <a:ext cx="50673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GitHub Repository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24700" y="4349055"/>
            <a:ext cx="4314825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Hosts version-controlled SQL scripts, Tableau workbook (.twb), architectural diagrams, and comprehensive documentation.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5100"/>
            <a:ext cx="121920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998565"/>
            <a:ext cx="10972800" cy="47625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51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817465"/>
            <a:ext cx="2457450" cy="8763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48050" y="2817465"/>
            <a:ext cx="2457450" cy="876300"/>
          </a:xfrm>
          <a:prstGeom prst="roundRect">
            <a:avLst>
              <a:gd name="adj" fmla="val 8695"/>
            </a:avLst>
          </a:prstGeom>
          <a:solidFill>
            <a:srgbClr val="EFF6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86500" y="2817465"/>
            <a:ext cx="2457450" cy="876300"/>
          </a:xfrm>
          <a:prstGeom prst="roundRect">
            <a:avLst>
              <a:gd name="adj" fmla="val 8695"/>
            </a:avLst>
          </a:prstGeom>
          <a:solidFill>
            <a:srgbClr val="F0FDF4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24950" y="2817465"/>
            <a:ext cx="2457450" cy="876300"/>
          </a:xfrm>
          <a:prstGeom prst="roundRect">
            <a:avLst>
              <a:gd name="adj" fmla="val 8695"/>
            </a:avLst>
          </a:prstGeom>
          <a:solidFill>
            <a:srgbClr val="FAF5FF"/>
          </a:solidFill>
          <a:ln w="1905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50" y="3169890"/>
            <a:ext cx="1524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3169890"/>
            <a:ext cx="1524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0" y="3169890"/>
            <a:ext cx="1524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012" y="4179540"/>
            <a:ext cx="123825" cy="1238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6619875"/>
            <a:ext cx="43695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Customer 360 &amp; Marketing Attribution Analytics | Yamini Gongati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0450" y="6619875"/>
            <a:ext cx="6477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Slide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81000"/>
            <a:ext cx="5595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D9488"/>
                </a:solidFill>
                <a:latin typeface="Plus Jakarta Sans"/>
              </a:rPr>
              <a:t>SYSTEM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590550"/>
            <a:ext cx="5875734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End-to-End Solution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818" y="2969865"/>
            <a:ext cx="276701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64748B"/>
                </a:solidFill>
                <a:latin typeface="Plus Jakarta Sans"/>
              </a:rPr>
              <a:t>Profiles, Orders, Ad Spend, Touchpoints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3268" y="2969865"/>
            <a:ext cx="276701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3B82F6"/>
                </a:solidFill>
                <a:latin typeface="Plus Jakarta Sans"/>
              </a:rPr>
              <a:t>SQL Transformations &amp;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1718" y="2969865"/>
            <a:ext cx="276701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16A34A"/>
                </a:solidFill>
                <a:latin typeface="Plus Jakarta Sans"/>
              </a:rPr>
              <a:t>Customer 360, Campaign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0168" y="2969865"/>
            <a:ext cx="276701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9333EA"/>
                </a:solidFill>
                <a:latin typeface="Plus Jakarta Sans"/>
              </a:rPr>
              <a:t>Interactive Insights &amp; Reporting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279796" y="4160490"/>
            <a:ext cx="12751593" cy="152400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64748B"/>
                </a:solidFill>
                <a:latin typeface="Plus Jakarta Sans"/>
              </a:rPr>
              <a:t>Note:</a:t>
            </a:r>
            <a:r>
              <a:rPr b="0" sz="975" i="0" u="none">
                <a:solidFill>
                  <a:srgbClr val="64748B"/>
                </a:solidFill>
                <a:latin typeface="Plus Jakarta Sans"/>
              </a:rPr>
              <a:t> Diagram represents the logical portfolio project workflow, not a automated live production infrastructure.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731" y="2988915"/>
            <a:ext cx="264318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64748B"/>
                </a:solidFill>
                <a:latin typeface="Plus Jakarta Sans"/>
              </a:rPr>
              <a:t>1. RAW INGESTION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731" y="3207990"/>
            <a:ext cx="2643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F172A"/>
                </a:solidFill>
                <a:latin typeface="Plus Jakarta Sans"/>
              </a:rPr>
              <a:t>Source Tables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181" y="2988915"/>
            <a:ext cx="264318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2563EB"/>
                </a:solidFill>
                <a:latin typeface="Plus Jakarta Sans"/>
              </a:rPr>
              <a:t>2. WAREHOUSE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5181" y="3207990"/>
            <a:ext cx="2643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E40AF"/>
                </a:solidFill>
                <a:latin typeface="Plus Jakarta Sans"/>
              </a:rPr>
              <a:t>Google BigQuery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3631" y="2988915"/>
            <a:ext cx="264318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5803D"/>
                </a:solidFill>
                <a:latin typeface="Plus Jakarta Sans"/>
              </a:rPr>
              <a:t>3. MODELING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3631" y="3207990"/>
            <a:ext cx="2643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4532D"/>
                </a:solidFill>
                <a:latin typeface="Plus Jakarta Sans"/>
              </a:rPr>
              <a:t>Analytical Views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32081" y="2988915"/>
            <a:ext cx="264318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7E22CE"/>
                </a:solidFill>
                <a:latin typeface="Plus Jakarta Sans"/>
              </a:rPr>
              <a:t>4. VISUALIZATION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2081" y="3207990"/>
            <a:ext cx="2643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581C87"/>
                </a:solidFill>
                <a:latin typeface="Plus Jakarta Sans"/>
              </a:rPr>
              <a:t>Tableau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5100"/>
            <a:ext cx="121920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51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765077"/>
            <a:ext cx="5372100" cy="447675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308002"/>
            <a:ext cx="5372100" cy="447675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850927"/>
            <a:ext cx="5372100" cy="447675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4393852"/>
            <a:ext cx="5372100" cy="447675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0300" y="2765077"/>
            <a:ext cx="5372100" cy="447675"/>
          </a:xfrm>
          <a:prstGeom prst="roundRect">
            <a:avLst>
              <a:gd name="adj" fmla="val 12765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0300" y="3308002"/>
            <a:ext cx="5372100" cy="447675"/>
          </a:xfrm>
          <a:prstGeom prst="roundRect">
            <a:avLst>
              <a:gd name="adj" fmla="val 12765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0300" y="3850927"/>
            <a:ext cx="5372100" cy="447675"/>
          </a:xfrm>
          <a:prstGeom prst="roundRect">
            <a:avLst>
              <a:gd name="adj" fmla="val 12765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0300" y="4393852"/>
            <a:ext cx="5372100" cy="447675"/>
          </a:xfrm>
          <a:prstGeom prst="roundRect">
            <a:avLst>
              <a:gd name="adj" fmla="val 12765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6619875"/>
            <a:ext cx="43695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Customer 360 &amp; Marketing Attribution Analytics | Yamini Gongati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20450" y="6619875"/>
            <a:ext cx="6477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Slide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81000"/>
            <a:ext cx="52744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D9488"/>
                </a:solidFill>
                <a:latin typeface="Plus Jakarta Sans"/>
              </a:rPr>
              <a:t>DATA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90550"/>
            <a:ext cx="5538192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Conceptual Data Model &amp; Tables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2450752"/>
            <a:ext cx="70508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Raw Source Entities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300" y="2450752"/>
            <a:ext cx="59817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Analytical Output 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2879377"/>
            <a:ext cx="51625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customer_profiles:</a:t>
            </a:r>
            <a:r>
              <a:rPr b="1" sz="1050" i="0" u="none">
                <a:solidFill>
                  <a:srgbClr val="2563EB"/>
                </a:solidFill>
                <a:latin typeface="Plus Jakarta Sans"/>
              </a:rPr>
              <a:t> </a:t>
            </a:r>
            <a:r>
              <a:rPr b="1" sz="975" i="0" u="none">
                <a:solidFill>
                  <a:srgbClr val="475569"/>
                </a:solidFill>
                <a:latin typeface="Plus Jakarta Sans"/>
              </a:rPr>
              <a:t>Demographics and attributes.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422302"/>
            <a:ext cx="51625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orders:</a:t>
            </a:r>
            <a:r>
              <a:rPr b="1" sz="1050" i="0" u="none">
                <a:solidFill>
                  <a:srgbClr val="2563EB"/>
                </a:solidFill>
                <a:latin typeface="Plus Jakarta Sans"/>
              </a:rPr>
              <a:t> </a:t>
            </a:r>
            <a:r>
              <a:rPr b="1" sz="975" i="0" u="none">
                <a:solidFill>
                  <a:srgbClr val="475569"/>
                </a:solidFill>
                <a:latin typeface="Plus Jakarta Sans"/>
              </a:rPr>
              <a:t>Transaction histories and monetary values.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3965227"/>
            <a:ext cx="51625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ad_spend:</a:t>
            </a:r>
            <a:r>
              <a:rPr b="1" sz="1050" i="0" u="none">
                <a:solidFill>
                  <a:srgbClr val="2563EB"/>
                </a:solidFill>
                <a:latin typeface="Plus Jakarta Sans"/>
              </a:rPr>
              <a:t> </a:t>
            </a:r>
            <a:r>
              <a:rPr b="1" sz="975" i="0" u="none">
                <a:solidFill>
                  <a:srgbClr val="475569"/>
                </a:solidFill>
                <a:latin typeface="Plus Jakarta Sans"/>
              </a:rPr>
              <a:t>Campaign investment figures across channels.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4508152"/>
            <a:ext cx="51625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marketing_touchpoints:</a:t>
            </a:r>
            <a:r>
              <a:rPr b="1" sz="1050" i="0" u="none">
                <a:solidFill>
                  <a:srgbClr val="2563EB"/>
                </a:solidFill>
                <a:latin typeface="Plus Jakarta Sans"/>
              </a:rPr>
              <a:t> </a:t>
            </a:r>
            <a:r>
              <a:rPr b="1" sz="975" i="0" u="none">
                <a:solidFill>
                  <a:srgbClr val="475569"/>
                </a:solidFill>
                <a:latin typeface="Plus Jakarta Sans"/>
              </a:rPr>
              <a:t>Customer interaction logs.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2700" y="2879377"/>
            <a:ext cx="51625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Plus Jakarta Sans"/>
              </a:rPr>
              <a:t>customer_360:</a:t>
            </a:r>
            <a:r>
              <a:rPr b="1" sz="1050" i="0" u="none">
                <a:solidFill>
                  <a:srgbClr val="166534"/>
                </a:solidFill>
                <a:latin typeface="Plus Jakarta Sans"/>
              </a:rPr>
              <a:t> </a:t>
            </a:r>
            <a:r>
              <a:rPr b="1" sz="975" i="0" u="none">
                <a:solidFill>
                  <a:srgbClr val="15803D"/>
                </a:solidFill>
                <a:latin typeface="Plus Jakarta Sans"/>
              </a:rPr>
              <a:t>Consolidated profile view.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2700" y="3422302"/>
            <a:ext cx="51625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Plus Jakarta Sans"/>
              </a:rPr>
              <a:t>campaign_performance:</a:t>
            </a:r>
            <a:r>
              <a:rPr b="1" sz="1050" i="0" u="none">
                <a:solidFill>
                  <a:srgbClr val="166534"/>
                </a:solidFill>
                <a:latin typeface="Plus Jakarta Sans"/>
              </a:rPr>
              <a:t> </a:t>
            </a:r>
            <a:r>
              <a:rPr b="1" sz="975" i="0" u="none">
                <a:solidFill>
                  <a:srgbClr val="15803D"/>
                </a:solidFill>
                <a:latin typeface="Plus Jakarta Sans"/>
              </a:rPr>
              <a:t>Aggregated spend &amp; revenue metrics.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2700" y="3965227"/>
            <a:ext cx="51625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Plus Jakarta Sans"/>
              </a:rPr>
              <a:t>attribution_comparison:</a:t>
            </a:r>
            <a:r>
              <a:rPr b="1" sz="1050" i="0" u="none">
                <a:solidFill>
                  <a:srgbClr val="166534"/>
                </a:solidFill>
                <a:latin typeface="Plus Jakarta Sans"/>
              </a:rPr>
              <a:t> </a:t>
            </a:r>
            <a:r>
              <a:rPr b="1" sz="975" i="0" u="none">
                <a:solidFill>
                  <a:srgbClr val="15803D"/>
                </a:solidFill>
                <a:latin typeface="Plus Jakarta Sans"/>
              </a:rPr>
              <a:t>First-touch vs. Last-touch credit.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2700" y="4508152"/>
            <a:ext cx="51625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Plus Jakarta Sans"/>
              </a:rPr>
              <a:t>project_validation:</a:t>
            </a:r>
            <a:r>
              <a:rPr b="1" sz="1050" i="0" u="none">
                <a:solidFill>
                  <a:srgbClr val="166534"/>
                </a:solidFill>
                <a:latin typeface="Plus Jakarta Sans"/>
              </a:rPr>
              <a:t> </a:t>
            </a:r>
            <a:r>
              <a:rPr b="1" sz="975" i="0" u="none">
                <a:solidFill>
                  <a:srgbClr val="15803D"/>
                </a:solidFill>
                <a:latin typeface="Plus Jakarta Sans"/>
              </a:rPr>
              <a:t>Quality control &amp; join assertions.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5100"/>
            <a:ext cx="121920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808190"/>
            <a:ext cx="10972800" cy="419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808190"/>
            <a:ext cx="38100" cy="419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51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2064990"/>
            <a:ext cx="109728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2731740"/>
            <a:ext cx="109728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3398490"/>
            <a:ext cx="109728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9600" y="4065240"/>
            <a:ext cx="109728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9625" y="220786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9625" y="287461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9625" y="354136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625" y="420811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4922490"/>
            <a:ext cx="10763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JetBrains Mono"/>
              </a:rPr>
              <a:t>Validation Rule:</a:t>
            </a:r>
            <a:r>
              <a:rPr b="0" sz="1125" i="0" u="none">
                <a:solidFill>
                  <a:srgbClr val="1E293B"/>
                </a:solidFill>
                <a:latin typeface="JetBrains Mono"/>
              </a:rPr>
              <a:t> Aggregation levels are checked to prevent duplicate order counting during touchpoint joins.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619875"/>
            <a:ext cx="43695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Customer 360 &amp; Marketing Attribution Analytics | Yamini Gongati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10925" y="6619875"/>
            <a:ext cx="6572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Slide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381000"/>
            <a:ext cx="36314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D9488"/>
                </a:solidFill>
                <a:latin typeface="Plus Jakarta Sans"/>
              </a:rPr>
              <a:t>DATA TRANSFORMATION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590550"/>
            <a:ext cx="3812976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SQL Analytics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2207865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8725" y="2241202"/>
            <a:ext cx="7131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Schema Inspection:</a:t>
            </a:r>
            <a:r>
              <a:rPr b="1" sz="1125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 Verifying key structures, null values, and data types across raw tables.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2874615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8725" y="2907952"/>
            <a:ext cx="6572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Key Joins:</a:t>
            </a:r>
            <a:r>
              <a:rPr b="1" sz="1125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 Linking customers, orders, and touchpoints while avoiding fan-out issues.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" y="3541365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8725" y="3574702"/>
            <a:ext cx="7298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Aggregations:</a:t>
            </a:r>
            <a:r>
              <a:rPr b="1" sz="1125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 Computing total spend, lifetime transactions, and campaign sums accurately.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750" y="4208115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8725" y="4241452"/>
            <a:ext cx="62269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Output Materialization:</a:t>
            </a:r>
            <a:r>
              <a:rPr b="1" sz="1125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 Creating clean analytical tables ready for BI ingestion.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5100"/>
            <a:ext cx="121920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760440"/>
            <a:ext cx="10972800" cy="1057275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51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484090"/>
            <a:ext cx="2215753" cy="962025"/>
          </a:xfrm>
          <a:prstGeom prst="roundRect">
            <a:avLst>
              <a:gd name="adj" fmla="val 118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06378" y="2484090"/>
            <a:ext cx="2215753" cy="962025"/>
          </a:xfrm>
          <a:prstGeom prst="roundRect">
            <a:avLst>
              <a:gd name="adj" fmla="val 118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3156" y="2484090"/>
            <a:ext cx="2215753" cy="962025"/>
          </a:xfrm>
          <a:prstGeom prst="roundRect">
            <a:avLst>
              <a:gd name="adj" fmla="val 118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99934" y="2474565"/>
            <a:ext cx="2582614" cy="981075"/>
          </a:xfrm>
          <a:prstGeom prst="roundRect">
            <a:avLst>
              <a:gd name="adj" fmla="val 1165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601" y="2722215"/>
            <a:ext cx="2857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8529" y="2722215"/>
            <a:ext cx="17145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157" y="2722215"/>
            <a:ext cx="28575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2579" y="2722215"/>
            <a:ext cx="257175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6619875"/>
            <a:ext cx="43695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Customer 360 &amp; Marketing Attribution Analytics | Yamini Gongati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0450" y="6619875"/>
            <a:ext cx="6477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Slide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81000"/>
            <a:ext cx="5429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D9488"/>
                </a:solidFill>
                <a:latin typeface="Plus Jakarta Sans"/>
              </a:rPr>
              <a:t>SINGLE SOURCE OF TRUTH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590550"/>
            <a:ext cx="5700712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Customer 360 Analytics Concept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3953" y="2846040"/>
            <a:ext cx="4095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0731" y="2846040"/>
            <a:ext cx="4095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7509" y="2846040"/>
            <a:ext cx="4095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3960465"/>
            <a:ext cx="11382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Analytical Value &amp; Business Use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4217640"/>
            <a:ext cx="1066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Consolidating distinct transactional and behavioral logs allows analysts to easily calculate customer lifecycle value, track multi-channel engagement frequency, and perform customer segment comparisons without complex repeated joins.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5927" y="3027015"/>
            <a:ext cx="228309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Profiles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2705" y="3027015"/>
            <a:ext cx="228309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Order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9483" y="3027015"/>
            <a:ext cx="228309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Touchpoints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21441" y="3027015"/>
            <a:ext cx="27396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40AF"/>
                </a:solidFill>
                <a:latin typeface="Plus Jakarta Sans"/>
              </a:rPr>
              <a:t>Customer 360 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5100"/>
            <a:ext cx="121920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354710"/>
            <a:ext cx="10972800" cy="4191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51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518469"/>
            <a:ext cx="3530500" cy="1607641"/>
          </a:xfrm>
          <a:prstGeom prst="roundRect">
            <a:avLst>
              <a:gd name="adj" fmla="val 71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30600" y="2518469"/>
            <a:ext cx="3530649" cy="1607641"/>
          </a:xfrm>
          <a:prstGeom prst="roundRect">
            <a:avLst>
              <a:gd name="adj" fmla="val 71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51750" y="2518469"/>
            <a:ext cx="3530500" cy="1607641"/>
          </a:xfrm>
          <a:prstGeom prst="roundRect">
            <a:avLst>
              <a:gd name="adj" fmla="val 71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4354710"/>
            <a:ext cx="38100" cy="419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4116585"/>
            <a:ext cx="3530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2518469"/>
            <a:ext cx="35305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2518469"/>
            <a:ext cx="9525" cy="160764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30575" y="2518469"/>
            <a:ext cx="9525" cy="160764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0600" y="4116585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0600" y="2518469"/>
            <a:ext cx="3530649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0600" y="2518469"/>
            <a:ext cx="9525" cy="160764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51725" y="2518469"/>
            <a:ext cx="9525" cy="160764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750" y="4116585"/>
            <a:ext cx="3530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1750" y="2518469"/>
            <a:ext cx="353050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1750" y="2518469"/>
            <a:ext cx="9525" cy="160764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72726" y="2518469"/>
            <a:ext cx="9525" cy="160764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6619875"/>
            <a:ext cx="43695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Customer 360 &amp; Marketing Attribution Analytics | Yamini Gongati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63300" y="6619875"/>
            <a:ext cx="7048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Slide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381000"/>
            <a:ext cx="5619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D9488"/>
                </a:solidFill>
                <a:latin typeface="Plus Jakarta Sans"/>
              </a:rPr>
              <a:t>METHODOLOGY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590550"/>
            <a:ext cx="5900737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Marketing Attribution Frameworks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150" y="4488060"/>
            <a:ext cx="113728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8350F"/>
                </a:solidFill>
                <a:latin typeface="Plus Jakarta Sans"/>
              </a:rPr>
              <a:t>Conceptual Note:</a:t>
            </a:r>
            <a:r>
              <a:rPr b="0" sz="975" i="0" u="none">
                <a:solidFill>
                  <a:srgbClr val="78350F"/>
                </a:solidFill>
                <a:latin typeface="Plus Jakarta Sans"/>
              </a:rPr>
              <a:t> Demonstrates fundamental logic. Does not establish statistical causality or algorithmically validated model optimizations.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2785169"/>
            <a:ext cx="400870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First-Touch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3061394"/>
            <a:ext cx="3817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100% Credit to Initial 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725" y="3328094"/>
            <a:ext cx="314950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Assigns full revenue conversion credit to the very first recorded customer interaction. Highlights discovery channels.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8725" y="2785169"/>
            <a:ext cx="40088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Last-Touch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8725" y="3061394"/>
            <a:ext cx="381799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100% Credit to Final Point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8725" y="3328094"/>
            <a:ext cx="3149649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Assigns full revenue credit to the final interaction immediately preceding conversion. Highlights closing channels.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9875" y="2785169"/>
            <a:ext cx="39021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Multi-Touch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9875" y="3061394"/>
            <a:ext cx="3817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Distributed Credit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9875" y="3328094"/>
            <a:ext cx="314950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Distributes credit across multiple touchpoints based on linear, time-decay, or position-based logic.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5100"/>
            <a:ext cx="121920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51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112615"/>
            <a:ext cx="5410200" cy="1552575"/>
          </a:xfrm>
          <a:prstGeom prst="roundRect">
            <a:avLst>
              <a:gd name="adj" fmla="val 73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2112615"/>
            <a:ext cx="5410200" cy="1552575"/>
          </a:xfrm>
          <a:prstGeom prst="roundRect">
            <a:avLst>
              <a:gd name="adj" fmla="val 73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817590"/>
            <a:ext cx="5410200" cy="1362075"/>
          </a:xfrm>
          <a:prstGeom prst="roundRect">
            <a:avLst>
              <a:gd name="adj" fmla="val 83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3817590"/>
            <a:ext cx="5410200" cy="1362075"/>
          </a:xfrm>
          <a:prstGeom prst="roundRect">
            <a:avLst>
              <a:gd name="adj" fmla="val 83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7725" y="2588865"/>
            <a:ext cx="4933950" cy="419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7725" y="2588865"/>
            <a:ext cx="38100" cy="419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10325" y="2588865"/>
            <a:ext cx="4933950" cy="6096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10325" y="2588865"/>
            <a:ext cx="38100" cy="609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7725" y="4293840"/>
            <a:ext cx="4933950" cy="419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7725" y="4293840"/>
            <a:ext cx="38100" cy="419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10325" y="4293840"/>
            <a:ext cx="4933950" cy="419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10325" y="4293840"/>
            <a:ext cx="38100" cy="419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6619875"/>
            <a:ext cx="43695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Customer 360 &amp; Marketing Attribution Analytics | Yamini Gongati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10925" y="6619875"/>
            <a:ext cx="6572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Slide 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381000"/>
            <a:ext cx="45124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D9488"/>
                </a:solidFill>
                <a:latin typeface="Plus Jakarta Sans"/>
              </a:rPr>
              <a:t>METRICS &amp;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590550"/>
            <a:ext cx="4738092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Key Performance Indicators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2350740"/>
            <a:ext cx="647580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Return on Ad Spend (ROAS)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125" y="2703165"/>
            <a:ext cx="4724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E293B"/>
                </a:solidFill>
                <a:latin typeface="JetBrains Mono"/>
              </a:rPr>
              <a:t>ROAS = Attributed Revenue / Advertising Spend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3084165"/>
            <a:ext cx="6167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Measures gross revenue generated per unit of ad spend.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0325" y="2350740"/>
            <a:ext cx="57816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Return on Investment (ROI)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2725" y="2703165"/>
            <a:ext cx="472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E293B"/>
                </a:solidFill>
                <a:latin typeface="JetBrains Mono"/>
              </a:rPr>
              <a:t>ROI = (Attributed Profit - Marketing Cost) / Marketing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0325" y="3274665"/>
            <a:ext cx="57816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Measures net profitability relative to cost.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4055715"/>
            <a:ext cx="647580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Cost Per Acquisition (CPA)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0125" y="4408140"/>
            <a:ext cx="4724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E293B"/>
                </a:solidFill>
                <a:latin typeface="JetBrains Mono"/>
              </a:rPr>
              <a:t>CPA = Total Ad Spend / Defined Acquisitions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725" y="4789140"/>
            <a:ext cx="6167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Evaluates cost efficiency of acquiring converted customers.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0325" y="4055715"/>
            <a:ext cx="57816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Conversion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2725" y="4408140"/>
            <a:ext cx="4724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E293B"/>
                </a:solidFill>
                <a:latin typeface="JetBrains Mono"/>
              </a:rPr>
              <a:t>Conversion Rate = Conversions / Eligible Interactions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0325" y="4789140"/>
            <a:ext cx="57816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Tracks the proportion of touchpoints converting to orders.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5100"/>
            <a:ext cx="121920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969740"/>
            <a:ext cx="10972800" cy="3095625"/>
          </a:xfrm>
          <a:prstGeom prst="roundRect">
            <a:avLst>
              <a:gd name="adj" fmla="val 2461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51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9150" y="2626965"/>
            <a:ext cx="2552700" cy="552450"/>
          </a:xfrm>
          <a:prstGeom prst="roundRect">
            <a:avLst>
              <a:gd name="adj" fmla="val 1034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86150" y="2626965"/>
            <a:ext cx="2552700" cy="552450"/>
          </a:xfrm>
          <a:prstGeom prst="roundRect">
            <a:avLst>
              <a:gd name="adj" fmla="val 1034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53150" y="2626965"/>
            <a:ext cx="2552700" cy="552450"/>
          </a:xfrm>
          <a:prstGeom prst="roundRect">
            <a:avLst>
              <a:gd name="adj" fmla="val 1034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20150" y="2626965"/>
            <a:ext cx="2552700" cy="552450"/>
          </a:xfrm>
          <a:prstGeom prst="roundRect">
            <a:avLst>
              <a:gd name="adj" fmla="val 1034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9150" y="3331815"/>
            <a:ext cx="5219700" cy="152400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53150" y="3331815"/>
            <a:ext cx="5219700" cy="152400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262" y="4036665"/>
            <a:ext cx="123825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037" y="4036665"/>
            <a:ext cx="123825" cy="1238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-381000" y="5179665"/>
            <a:ext cx="129540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0F172A"/>
                </a:solidFill>
                <a:latin typeface="Plus Jakarta Sans"/>
              </a:rPr>
              <a:t>Illustrative layout — replace with actual Tableau dashboard screenshot where available.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619875"/>
            <a:ext cx="43695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Customer 360 &amp; Marketing Attribution Analytics | Yamini Gongati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2350" y="6619875"/>
            <a:ext cx="6858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Slide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81000"/>
            <a:ext cx="48934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D9488"/>
                </a:solidFill>
                <a:latin typeface="Plus Jakarta Sans"/>
              </a:rPr>
              <a:t>VISUALIZATION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90550"/>
            <a:ext cx="5138142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Tableau Dashboard Wireframe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2179290"/>
            <a:ext cx="3857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[Wireframe] Marketing Performance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4950" y="2179290"/>
            <a:ext cx="23431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Filters: Date Range | Campaign | Segment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362" y="2741265"/>
            <a:ext cx="29622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Plus Jakarta Sans"/>
              </a:rPr>
              <a:t>Total Revenue</a:t>
            </a:r>
            <a:r>
              <a:rPr b="0" sz="825" i="0" u="none">
                <a:solidFill>
                  <a:srgbClr val="64748B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0F172A"/>
                </a:solidFill>
                <a:latin typeface="Plus Jakarta Sans"/>
              </a:rPr>
              <a:t>14,800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81362" y="2741265"/>
            <a:ext cx="29622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Plus Jakarta Sans"/>
              </a:rPr>
              <a:t>Total Spend</a:t>
            </a:r>
            <a:r>
              <a:rPr b="0" sz="825" i="0" u="none">
                <a:solidFill>
                  <a:srgbClr val="64748B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0F172A"/>
                </a:solidFill>
                <a:latin typeface="Plus Jakarta Sans"/>
              </a:rPr>
              <a:t>2,300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8362" y="2741265"/>
            <a:ext cx="29622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Plus Jakarta Sans"/>
              </a:rPr>
              <a:t>Total Orders</a:t>
            </a:r>
            <a:r>
              <a:rPr b="0" sz="825" i="0" u="none">
                <a:solidFill>
                  <a:srgbClr val="64748B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0F172A"/>
                </a:solidFill>
                <a:latin typeface="Plus Jakarta Sans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5362" y="2741265"/>
            <a:ext cx="29622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Plus Jakarta Sans"/>
              </a:rPr>
              <a:t>Customers</a:t>
            </a:r>
            <a:r>
              <a:rPr b="0" sz="825" i="0" u="none">
                <a:solidFill>
                  <a:srgbClr val="64748B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0F172A"/>
                </a:solidFill>
                <a:latin typeface="Plus Jakarta San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62162" y="3331815"/>
            <a:ext cx="4629150" cy="15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975" i="0" u="none">
                <a:solidFill>
                  <a:srgbClr val="0F172A"/>
                </a:solidFill>
                <a:latin typeface="Plus Jakarta Sans"/>
              </a:rPr>
              <a:t> Campaign Revenue vs Spend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48612" y="3331815"/>
            <a:ext cx="4076700" cy="15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975" i="0" u="none">
                <a:solidFill>
                  <a:srgbClr val="0F172A"/>
                </a:solidFill>
                <a:latin typeface="Plus Jakarta Sans"/>
              </a:rPr>
              <a:t> First-Touch vs Last-Touch Comparison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5100"/>
            <a:ext cx="121920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51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562225"/>
            <a:ext cx="5372100" cy="1834455"/>
          </a:xfrm>
          <a:prstGeom prst="roundRect">
            <a:avLst>
              <a:gd name="adj" fmla="val 623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184052"/>
            <a:ext cx="5372100" cy="561975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2860327"/>
            <a:ext cx="5372100" cy="561975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3536602"/>
            <a:ext cx="5372100" cy="561975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4212877"/>
            <a:ext cx="5372100" cy="561975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381000" y="4965352"/>
            <a:ext cx="129540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0F172A"/>
                </a:solidFill>
                <a:latin typeface="Plus Jakarta Sans"/>
              </a:rPr>
              <a:t>Reported values from the current synthetic demonstration dataset; not independently re-queried for this presentation.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619875"/>
            <a:ext cx="43695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Customer 360 &amp; Marketing Attribution Analytics | Yamini Gongati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2350" y="6619875"/>
            <a:ext cx="6858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Slide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81000"/>
            <a:ext cx="4214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D9488"/>
                </a:solidFill>
                <a:latin typeface="Plus Jakarta Sans"/>
              </a:rPr>
              <a:t>DEMONSTRATION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90550"/>
            <a:ext cx="4425553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Project-Reported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3460" y="3076575"/>
            <a:ext cx="622577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15803D"/>
                </a:solidFill>
                <a:latin typeface="Plus Jakarta Sans"/>
              </a:rPr>
              <a:t>4 / 4 Passed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1693" y="3438525"/>
            <a:ext cx="5929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166534"/>
                </a:solidFill>
                <a:latin typeface="Plus Jakarta Sans"/>
              </a:rPr>
              <a:t>Validation Checks Passed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1693" y="3762375"/>
            <a:ext cx="5929312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b="0" sz="900" i="0" u="none">
                <a:solidFill>
                  <a:srgbClr val="15803D"/>
                </a:solidFill>
                <a:latin typeface="Plus Jakarta Sans"/>
              </a:rPr>
              <a:t>Checks confirmed schema consistency, primary key uniqueness, join completeness, and revenue totals.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2374552"/>
            <a:ext cx="1762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Customers Modeled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05475" y="2345977"/>
            <a:ext cx="4000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3050827"/>
            <a:ext cx="13335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Orders Tracked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95950" y="3022252"/>
            <a:ext cx="4095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" y="3727102"/>
            <a:ext cx="12477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Total Revenue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1550" y="3698527"/>
            <a:ext cx="13239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563EB"/>
                </a:solidFill>
                <a:latin typeface="Plus Jakarta Sans"/>
              </a:rPr>
              <a:t>14,800 </a:t>
            </a:r>
            <a:r>
              <a:rPr b="0" sz="900" i="0" u="none">
                <a:solidFill>
                  <a:srgbClr val="64748B"/>
                </a:solidFill>
                <a:latin typeface="Plus Jakarta Sans"/>
              </a:rPr>
              <a:t>(units)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525" y="4403377"/>
            <a:ext cx="1571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Advertising Spend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6800" y="4374802"/>
            <a:ext cx="12287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D9488"/>
                </a:solidFill>
                <a:latin typeface="Plus Jakarta Sans"/>
              </a:rPr>
              <a:t>2,300 </a:t>
            </a:r>
            <a:r>
              <a:rPr b="0" sz="900" i="0" u="none">
                <a:solidFill>
                  <a:srgbClr val="64748B"/>
                </a:solidFill>
                <a:latin typeface="Plus Jakarta Sans"/>
              </a:rPr>
              <a:t>(units)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5100"/>
            <a:ext cx="121920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51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803177"/>
            <a:ext cx="5372100" cy="168592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2803177"/>
            <a:ext cx="5372100" cy="168592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4479577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803177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803177"/>
            <a:ext cx="38100" cy="16859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72175" y="2803177"/>
            <a:ext cx="9525" cy="16859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0300" y="4479577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0300" y="2803177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0300" y="2803177"/>
            <a:ext cx="38100" cy="16859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72875" y="2803177"/>
            <a:ext cx="9525" cy="16859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069877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3069877"/>
            <a:ext cx="15240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6619875"/>
            <a:ext cx="43695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Customer 360 &amp; Marketing Attribution Analytics | Yamini Gongati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72825" y="6619875"/>
            <a:ext cx="6953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Slide 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381000"/>
            <a:ext cx="6262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D9488"/>
                </a:solidFill>
                <a:latin typeface="Plus Jakarta Sans"/>
              </a:rPr>
              <a:t>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590550"/>
            <a:ext cx="6575821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Limitations &amp; Proposed Enhancements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3041302"/>
            <a:ext cx="6388298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Current Limitations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0" y="3041302"/>
            <a:ext cx="5715000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Proposed Roadmap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" y="3355627"/>
            <a:ext cx="6084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 Small synthetic dataset (demonstration only).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300" y="3603277"/>
            <a:ext cx="6084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 Results do not represent real-world market trends.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300" y="3850927"/>
            <a:ext cx="6084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 Static datasets without automated real-time feeds.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300" y="4098577"/>
            <a:ext cx="6084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 Simple attribution rules without algorithmic tuning.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0" y="3355627"/>
            <a:ext cx="5715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 Ingest larger, real-world anonymized marketing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0" y="3603277"/>
            <a:ext cx="5715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 Implement automated dbt or Airflow ETL pipelines.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0" y="3850927"/>
            <a:ext cx="5715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 Expand data quality assertions and data lineage docs.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0" y="4098577"/>
            <a:ext cx="5715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 Explore position-based and Markov attribution models.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571976"/>
            <a:ext cx="10972800" cy="676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06935"/>
            <a:ext cx="2628900" cy="1152525"/>
          </a:xfrm>
          <a:prstGeom prst="roundRect">
            <a:avLst>
              <a:gd name="adj" fmla="val 991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90900" y="3106935"/>
            <a:ext cx="2628900" cy="1152525"/>
          </a:xfrm>
          <a:prstGeom prst="roundRect">
            <a:avLst>
              <a:gd name="adj" fmla="val 991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3106935"/>
            <a:ext cx="2628900" cy="1152525"/>
          </a:xfrm>
          <a:prstGeom prst="roundRect">
            <a:avLst>
              <a:gd name="adj" fmla="val 991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53500" y="3106935"/>
            <a:ext cx="2628900" cy="1152525"/>
          </a:xfrm>
          <a:prstGeom prst="roundRect">
            <a:avLst>
              <a:gd name="adj" fmla="val 991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5571976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345060"/>
            <a:ext cx="14287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025" y="3345060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3345060"/>
            <a:ext cx="2190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096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DD4BF"/>
                </a:solidFill>
                <a:latin typeface="Plus Jakarta Sans"/>
              </a:rPr>
              <a:t>WRAP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191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Conclusion &amp; Deliverables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337220"/>
            <a:ext cx="7715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Demonstrates an end-to-end analytics workflow converting raw customer and campaign logs into structured insights using BigQuery SQL and Tableau visual analytics.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335535"/>
            <a:ext cx="2266950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4A3B8"/>
                </a:solidFill>
                <a:latin typeface="Plus Jakarta Sans"/>
              </a:rPr>
              <a:t>In GitHub 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9500" y="3335535"/>
            <a:ext cx="2266950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4A3B8"/>
                </a:solidFill>
                <a:latin typeface="Plus Jakarta Sans"/>
              </a:rPr>
              <a:t>.twb workbook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35535"/>
            <a:ext cx="2266950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4A3B8"/>
                </a:solidFill>
                <a:latin typeface="Plus Jakarta Sans"/>
              </a:rPr>
              <a:t>Visual workflow diagram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2100" y="3335535"/>
            <a:ext cx="2266950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4A3B8"/>
                </a:solidFill>
                <a:latin typeface="Plus Jakarta Sans"/>
              </a:rPr>
              <a:t>Detailed README.md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6725" y="6105376"/>
            <a:ext cx="41052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Customer 360 &amp; Marketing Attribution Analytics | Yamini Gongati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611760"/>
            <a:ext cx="282535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SQL Queries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9025" y="3611760"/>
            <a:ext cx="282535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Tableau 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0325" y="3611760"/>
            <a:ext cx="282535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1625" y="3545085"/>
            <a:ext cx="282535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Documentation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5772001"/>
            <a:ext cx="338792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Thank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095851"/>
            <a:ext cx="3226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Open for project feedback and discussions.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